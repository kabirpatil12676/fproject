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85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19010313" cy="10693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84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5C5A7-E5D7-4F63-BB8D-9764EAAC251E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AF963-48FC-4C70-9D4C-B6C2B202CD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950A-3801-23B8-1CE0-2C2B2DF7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CCECE-247F-F8D4-8A0F-3859DB071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C874-6BF4-0A40-F31F-E13A1B2B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21B3-F878-2C63-7C66-F961DC6A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95B543-0236-4AEE-9F15-C7CF1150485F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13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125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9589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3101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0484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4435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092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707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4419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2595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8727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226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563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BAF1-C041-2EB4-3281-B903411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C7A9B4-7CEC-A17C-8FD8-B888C438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7"/>
          <a:stretch>
            <a:fillRect/>
          </a:stretch>
        </p:blipFill>
        <p:spPr>
          <a:xfrm>
            <a:off x="0" y="1082680"/>
            <a:ext cx="18999997" cy="426401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0E9B2-0A05-49CE-F896-07C94288C2F2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2E3824-A8BD-0246-524E-0F05B4E1484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BB3B7A-5F3D-4158-8B95-75CBCB9BB89A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94CD4D4-1E51-1878-6A89-47B9A558853B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E439E67-4596-092B-70B3-59250CB0068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A7A8640-F303-B061-AC9A-62D09966ACCF}"/>
              </a:ext>
            </a:extLst>
          </p:cNvPr>
          <p:cNvSpPr txBox="1"/>
          <p:nvPr/>
        </p:nvSpPr>
        <p:spPr>
          <a:xfrm>
            <a:off x="-185555" y="207491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 marR="0" lvl="0" indent="0" algn="l" defTabSz="4572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Department of Information Technology 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76575C-25D6-85EF-AC00-95B58D7006AB}"/>
              </a:ext>
            </a:extLst>
          </p:cNvPr>
          <p:cNvSpPr txBox="1"/>
          <p:nvPr/>
        </p:nvSpPr>
        <p:spPr>
          <a:xfrm>
            <a:off x="6833493" y="288707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WIT, Solapur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7D93BB-71BD-74F2-C5CE-CDC00483B481}"/>
              </a:ext>
            </a:extLst>
          </p:cNvPr>
          <p:cNvSpPr txBox="1"/>
          <p:nvPr/>
        </p:nvSpPr>
        <p:spPr>
          <a:xfrm>
            <a:off x="1697709" y="5507784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-5" normalizeH="0" baseline="0" noProof="0" dirty="0">
                <a:ln>
                  <a:noFill/>
                </a:ln>
                <a:solidFill>
                  <a:srgbClr val="00318B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PROJECT SYNOPSIS PRESENTATION</a:t>
            </a:r>
            <a:endParaRPr kumimoji="0" lang="cs-CZ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A2324-B93F-5633-304B-2787AB89C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6076" y="-28800"/>
            <a:ext cx="1224237" cy="1140920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3549B7DF-0D2B-2377-7129-14E020EBF472}"/>
              </a:ext>
            </a:extLst>
          </p:cNvPr>
          <p:cNvSpPr txBox="1"/>
          <p:nvPr/>
        </p:nvSpPr>
        <p:spPr>
          <a:xfrm>
            <a:off x="1451186" y="6890951"/>
            <a:ext cx="16559808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US" sz="3200" b="1" dirty="0">
                <a:solidFill>
                  <a:srgbClr val="C00000"/>
                </a:solidFill>
                <a:latin typeface="Arial"/>
              </a:rPr>
              <a:t>"Design and Evaluation of an Educator-Led Experiential Pedagogical Model and Personalized Digital Platform for Holistic Student Growth"</a:t>
            </a:r>
          </a:p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3CA62C-0E64-278E-5BA7-7D48AB115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093449"/>
              </p:ext>
            </p:extLst>
          </p:nvPr>
        </p:nvGraphicFramePr>
        <p:xfrm>
          <a:off x="6552828" y="8405474"/>
          <a:ext cx="6616358" cy="51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3736038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GROUP NO: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B-07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</a:tbl>
          </a:graphicData>
        </a:graphic>
      </p:graphicFrame>
      <p:sp>
        <p:nvSpPr>
          <p:cNvPr id="25" name="object 18">
            <a:extLst>
              <a:ext uri="{FF2B5EF4-FFF2-40B4-BE49-F238E27FC236}">
                <a16:creationId xmlns:a16="http://schemas.microsoft.com/office/drawing/2014/main" id="{20B13B07-2F03-9B19-896C-E268821E4A94}"/>
              </a:ext>
            </a:extLst>
          </p:cNvPr>
          <p:cNvSpPr txBox="1"/>
          <p:nvPr/>
        </p:nvSpPr>
        <p:spPr>
          <a:xfrm>
            <a:off x="1226268" y="9567068"/>
            <a:ext cx="1655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>
              <a:spcBef>
                <a:spcPts val="100"/>
              </a:spcBef>
            </a:pP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GUIDE : </a:t>
            </a:r>
            <a:r>
              <a:rPr lang="en-US" sz="4000" dirty="0">
                <a:solidFill>
                  <a:srgbClr val="C00000"/>
                </a:solidFill>
                <a:latin typeface="Arial"/>
              </a:rPr>
              <a:t>Dr. Ms. D. D. </a:t>
            </a:r>
            <a:r>
              <a:rPr lang="en-US" sz="4000" dirty="0" err="1">
                <a:solidFill>
                  <a:srgbClr val="C00000"/>
                </a:solidFill>
                <a:latin typeface="Arial"/>
              </a:rPr>
              <a:t>Awasekar</a:t>
            </a: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 </a:t>
            </a:r>
            <a:endParaRPr kumimoji="0" lang="cs-CZ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5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77724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15" y="3477315"/>
            <a:ext cx="190103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C00000"/>
                </a:solidFill>
                <a:latin typeface="Arial"/>
              </a:rPr>
              <a:t>"</a:t>
            </a:r>
            <a:r>
              <a:rPr lang="en-US" sz="2800" b="1" i="0" dirty="0">
                <a:solidFill>
                  <a:srgbClr val="C00000"/>
                </a:solidFill>
                <a:latin typeface="Arial"/>
              </a:rPr>
              <a:t>Design and Evaluation of an Educator-Led Experiential Pedagogical Model and Personalized Digital Platform for Holistic Student Growth</a:t>
            </a:r>
            <a:r>
              <a:rPr sz="2800" b="1" i="0" dirty="0">
                <a:solidFill>
                  <a:srgbClr val="C00000"/>
                </a:solidFill>
                <a:latin typeface="Arial"/>
              </a:rPr>
              <a:t>"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8756" y="5746652"/>
            <a:ext cx="18288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0196" y="58380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Sr.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7556" y="5746652"/>
            <a:ext cx="6858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38996" y="583809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Name of Student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05556" y="5746652"/>
            <a:ext cx="2286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96996" y="58380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Roll 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18756" y="638673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0196" y="64781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7556" y="638673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38996" y="64781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Kabir Shitalkumar Patil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05556" y="638673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796996" y="64781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18756" y="702681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0196" y="71182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7556" y="702681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38996" y="711825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Alok Shriniwas Perla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705556" y="702681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796996" y="71182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8756" y="766689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0196" y="77583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7556" y="766689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38996" y="775833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Vidhi Jatinbhai Patel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05556" y="766689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96996" y="77583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8756" y="830697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0196" y="83984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7556" y="830697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38996" y="839841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Rudraksh Rahul Vaidya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705556" y="830697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796996" y="83984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B-61</a:t>
            </a: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C44BB49B-06F5-9E44-C5A0-384B434B6DC8}"/>
              </a:ext>
            </a:extLst>
          </p:cNvPr>
          <p:cNvSpPr txBox="1"/>
          <p:nvPr/>
        </p:nvSpPr>
        <p:spPr>
          <a:xfrm>
            <a:off x="996672" y="4454282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GB" sz="7200" spc="-5" dirty="0">
                <a:solidFill>
                  <a:srgbClr val="00318B"/>
                </a:solidFill>
                <a:cs typeface="Source Sans Pro"/>
              </a:rPr>
              <a:t>TEAM DETAILS  </a:t>
            </a:r>
            <a:endParaRPr lang="cs-CZ" sz="7200" dirty="0">
              <a:solidFill>
                <a:prstClr val="black"/>
              </a:solidFill>
              <a:cs typeface="Source Sans Pro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1F8E06C-4914-CAD6-5DD5-C3F3F25C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037" y="2024899"/>
            <a:ext cx="1224237" cy="114092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2D35B32-D20F-A3D2-4C89-29B5D7E341F8}"/>
              </a:ext>
            </a:extLst>
          </p:cNvPr>
          <p:cNvGrpSpPr/>
          <p:nvPr/>
        </p:nvGrpSpPr>
        <p:grpSpPr>
          <a:xfrm>
            <a:off x="27284" y="-16734"/>
            <a:ext cx="19010313" cy="1112119"/>
            <a:chOff x="-324644" y="2222500"/>
            <a:chExt cx="22261685" cy="1302327"/>
          </a:xfrm>
        </p:grpSpPr>
        <p:sp>
          <p:nvSpPr>
            <p:cNvPr id="42" name="object 2">
              <a:extLst>
                <a:ext uri="{FF2B5EF4-FFF2-40B4-BE49-F238E27FC236}">
                  <a16:creationId xmlns:a16="http://schemas.microsoft.com/office/drawing/2014/main" id="{10039C9E-15EA-B157-4DD1-A71E409B76D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3">
              <a:extLst>
                <a:ext uri="{FF2B5EF4-FFF2-40B4-BE49-F238E27FC236}">
                  <a16:creationId xmlns:a16="http://schemas.microsoft.com/office/drawing/2014/main" id="{0FD91687-0362-079D-8AAA-2E1DED702157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2">
              <a:extLst>
                <a:ext uri="{FF2B5EF4-FFF2-40B4-BE49-F238E27FC236}">
                  <a16:creationId xmlns:a16="http://schemas.microsoft.com/office/drawing/2014/main" id="{B0948CAE-EC45-0AB9-7632-B9CD915BCEE7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object 2">
              <a:extLst>
                <a:ext uri="{FF2B5EF4-FFF2-40B4-BE49-F238E27FC236}">
                  <a16:creationId xmlns:a16="http://schemas.microsoft.com/office/drawing/2014/main" id="{5B46E85D-6EF3-CF55-806C-95EE4E552DEB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" name="object 6">
            <a:extLst>
              <a:ext uri="{FF2B5EF4-FFF2-40B4-BE49-F238E27FC236}">
                <a16:creationId xmlns:a16="http://schemas.microsoft.com/office/drawing/2014/main" id="{003F26A4-DE92-ACF5-174B-694A85652DC2}"/>
              </a:ext>
            </a:extLst>
          </p:cNvPr>
          <p:cNvSpPr txBox="1"/>
          <p:nvPr/>
        </p:nvSpPr>
        <p:spPr>
          <a:xfrm>
            <a:off x="-185555" y="153182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GB" sz="3200" spc="-5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  <p:sp>
        <p:nvSpPr>
          <p:cNvPr id="47" name="object 7">
            <a:extLst>
              <a:ext uri="{FF2B5EF4-FFF2-40B4-BE49-F238E27FC236}">
                <a16:creationId xmlns:a16="http://schemas.microsoft.com/office/drawing/2014/main" id="{CDC58D4F-E282-A39C-476A-25E54B3B315A}"/>
              </a:ext>
            </a:extLst>
          </p:cNvPr>
          <p:cNvSpPr txBox="1"/>
          <p:nvPr/>
        </p:nvSpPr>
        <p:spPr>
          <a:xfrm>
            <a:off x="6792313" y="274563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200" spc="-15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575" y="160338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1.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Introduction</a:t>
            </a:r>
            <a:endParaRPr sz="3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Arial"/>
              </a:rPr>
              <a:t>ELEVATE: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220373"/>
            <a:ext cx="10462846" cy="846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Evolution of Digital Learning:</a:t>
            </a:r>
            <a:br>
              <a:rPr lang="en-US" sz="2800" dirty="0"/>
            </a:br>
            <a:r>
              <a:rPr lang="en-US" sz="2800" dirty="0"/>
              <a:t>Digital learning platforms have made education more accessible by enabling learners to access courses anytime and anywhere. However, most platforms primarily focus on content delivery rather than competency development.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Limitation of Existing Platforms:</a:t>
            </a:r>
            <a:br>
              <a:rPr lang="en-US" sz="2800" dirty="0"/>
            </a:br>
            <a:r>
              <a:rPr lang="en-US" sz="2800" dirty="0"/>
              <a:t>Current Learning Management Systems (LMS) such as Moodle and online course platforms like Udemy emphasize videos, quizzes, and course completion but provide limited opportunities for experiential learning and continuous feedback.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Educator-Led Experiential Learning:</a:t>
            </a:r>
            <a:br>
              <a:rPr lang="en-US" sz="2800" dirty="0"/>
            </a:br>
            <a:r>
              <a:rPr lang="en-US" sz="2800" dirty="0"/>
              <a:t>ELEVATE introduces a structured learning approach where educators guide learners through practical activities, reflection, validation, and continuous improvement instead of passive content consumption.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Holistic Student Development:</a:t>
            </a:r>
            <a:br>
              <a:rPr lang="en-US" sz="2800" dirty="0"/>
            </a:br>
            <a:r>
              <a:rPr lang="en-US" sz="2800" dirty="0"/>
              <a:t>The platform integrates Growth Journeys, AI-assisted feedback, and Growth Portfolios to support technical, professional, and life-skill development through measurable learning outcomes.</a:t>
            </a:r>
          </a:p>
          <a:p>
            <a:pPr marL="457200" indent="-4572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sz="2800" b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242" name="AutoShape 2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215" y="1220373"/>
            <a:ext cx="7649307" cy="85459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2. Problems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Identified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928" y="2716363"/>
            <a:ext cx="9452660" cy="70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1. Passive Content-Centric Learning</a:t>
            </a:r>
          </a:p>
          <a:p>
            <a:r>
              <a:rPr lang="en-US" sz="2800" dirty="0"/>
              <a:t>Learning is often limited to videos and quizzes with minimal practical application or real-world experience.</a:t>
            </a:r>
          </a:p>
          <a:p>
            <a:r>
              <a:rPr lang="en-US" sz="2800" b="1" dirty="0"/>
              <a:t>2. Lack of Structured Experiential Learning</a:t>
            </a:r>
          </a:p>
          <a:p>
            <a:r>
              <a:rPr lang="en-US" sz="2800" dirty="0"/>
              <a:t>Students have limited opportunities to learn through guided activities, reflection, and hands-on experiences.</a:t>
            </a:r>
          </a:p>
          <a:p>
            <a:r>
              <a:rPr lang="en-US" sz="2800" b="1" dirty="0"/>
              <a:t>3. Limited Personalized Feedback</a:t>
            </a:r>
          </a:p>
          <a:p>
            <a:r>
              <a:rPr lang="en-US" sz="2800" dirty="0"/>
              <a:t>Most platforms provide generic assessments without continuous mentoring or individualized guidance.</a:t>
            </a:r>
          </a:p>
          <a:p>
            <a:r>
              <a:rPr lang="en-US" sz="2800" b="1" dirty="0"/>
              <a:t>4. Absence of Evidence-Based Skill Assessment</a:t>
            </a:r>
          </a:p>
          <a:p>
            <a:r>
              <a:rPr lang="en-US" sz="2800" dirty="0"/>
              <a:t>Course completion certificates do not adequately demonstrate practical competencies or learner growth.</a:t>
            </a:r>
          </a:p>
          <a:p>
            <a:r>
              <a:rPr lang="en-US" sz="2800" b="1" dirty="0"/>
              <a:t>5. Poor Support for Holistic Student Development</a:t>
            </a:r>
          </a:p>
          <a:p>
            <a:r>
              <a:rPr lang="en-US" sz="2800" dirty="0"/>
              <a:t>Technical knowledge is prioritized, while communication, leadership, teamwork, and life skills receive limited attention.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endParaRPr sz="2400" b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8" name="Picture 7" descr="fig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890" y="2665379"/>
            <a:ext cx="8847751" cy="74387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84909D-56E2-C4DC-5674-972FB5E8B923}"/>
              </a:ext>
            </a:extLst>
          </p:cNvPr>
          <p:cNvSpPr txBox="1"/>
          <p:nvPr/>
        </p:nvSpPr>
        <p:spPr>
          <a:xfrm>
            <a:off x="436928" y="1217404"/>
            <a:ext cx="18181812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To design and evaluate an educator-led experiential pedagogical model and personalized digital platform that supports life-skill development, professional readiness, and holistic student growth beyond conventional classroom learning.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550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3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Student Learning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Survey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9</a:t>
            </a:r>
          </a:p>
        </p:txBody>
      </p:sp>
      <p:pic>
        <p:nvPicPr>
          <p:cNvPr id="8" name="Picture 7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4" y="1055076"/>
            <a:ext cx="18836639" cy="9049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726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39"/>
            <a:ext cx="6281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4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E505B-8945-2BA5-9AD3-C714C48AD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3" y="1072662"/>
            <a:ext cx="18217661" cy="8929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902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5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221AC-C7BA-5E9F-B6C5-EEAF92FB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1686"/>
            <a:ext cx="18699480" cy="8922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058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6.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7</a:t>
            </a:r>
          </a:p>
        </p:txBody>
      </p:sp>
      <p:pic>
        <p:nvPicPr>
          <p:cNvPr id="10" name="Picture 9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0"/>
            <a:ext cx="18836640" cy="9098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9495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7. Hardware &amp;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Arial"/>
              </a:rPr>
              <a:t>7/28/2026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Frontend Framework</a:t>
            </a:r>
          </a:p>
        </p:txBody>
      </p:sp>
      <p:pic>
        <p:nvPicPr>
          <p:cNvPr id="43" name="Picture 42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49569"/>
            <a:ext cx="18041815" cy="9154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550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8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FE3146-C034-A2D5-22B0-67A8D055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6517"/>
            <a:ext cx="18277449" cy="91088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61518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 dirty="0">
                <a:solidFill>
                  <a:schemeClr val="tx2"/>
                </a:solidFill>
                <a:latin typeface="Arial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43230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chemeClr val="tx2"/>
                </a:solidFill>
                <a:latin typeface="Arial"/>
              </a:rPr>
              <a:t>THANK YOU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712460"/>
            <a:ext cx="1901031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Design and Development of ELEVATE: An Educator-Led Experiential Pedagogical Platform for Holistic Student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534</Words>
  <Application>Microsoft Office PowerPoint</Application>
  <PresentationFormat>Custom</PresentationFormat>
  <Paragraphs>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Source Sans Pro</vt:lpstr>
      <vt:lpstr>Source Sans Pro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WITSP23-PC05</dc:creator>
  <dc:description>generated using python-pptx</dc:description>
  <cp:lastModifiedBy>Kabir Patil</cp:lastModifiedBy>
  <cp:revision>15</cp:revision>
  <dcterms:created xsi:type="dcterms:W3CDTF">2013-01-27T09:14:16Z</dcterms:created>
  <dcterms:modified xsi:type="dcterms:W3CDTF">2026-07-29T17:43:21Z</dcterms:modified>
</cp:coreProperties>
</file>