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85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19010313" cy="10693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5C5A7-E5D7-4F63-BB8D-9764EAAC251E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AF963-48FC-4C70-9D4C-B6C2B202CD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95B543-0236-4AEE-9F15-C7CF1150485F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125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958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101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048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4435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092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707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4419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2595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872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226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04-Aug-26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56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0" y="1082680"/>
            <a:ext cx="18999997" cy="426401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85555" y="207491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 marR="0" lvl="0" indent="0" algn="l" defTabSz="4572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Department of Information Technology 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WIT, Solapur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697709" y="5507784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-5" normalizeH="0" baseline="0" noProof="0" dirty="0">
                <a:ln>
                  <a:noFill/>
                </a:ln>
                <a:solidFill>
                  <a:srgbClr val="00318B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PROJECT SYNOPSIS PRESENTATION</a:t>
            </a:r>
            <a:endParaRPr kumimoji="0" lang="cs-CZ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1451186" y="6890951"/>
            <a:ext cx="16559808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US" sz="3200" b="1" dirty="0">
                <a:solidFill>
                  <a:srgbClr val="C00000"/>
                </a:solidFill>
                <a:latin typeface="Arial"/>
              </a:rPr>
              <a:t>"Design and Evaluation of an Educator-Led Experiential Pedagogical Model and Personalized Digital Platform for Holistic Student Growth"</a:t>
            </a:r>
          </a:p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93449"/>
              </p:ext>
            </p:extLst>
          </p:nvPr>
        </p:nvGraphicFramePr>
        <p:xfrm>
          <a:off x="6552828" y="8405474"/>
          <a:ext cx="6616358" cy="51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3736038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1226268" y="9567068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>
              <a:spcBef>
                <a:spcPts val="100"/>
              </a:spcBef>
            </a:pP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GUIDE : </a:t>
            </a:r>
            <a:r>
              <a:rPr lang="en-US" sz="4000" dirty="0">
                <a:solidFill>
                  <a:srgbClr val="C00000"/>
                </a:solidFill>
                <a:latin typeface="Arial"/>
              </a:rPr>
              <a:t>Dr. Ms. D. D. </a:t>
            </a:r>
            <a:r>
              <a:rPr lang="en-US" sz="4000" dirty="0" err="1">
                <a:solidFill>
                  <a:srgbClr val="C00000"/>
                </a:solidFill>
                <a:latin typeface="Arial"/>
              </a:rPr>
              <a:t>Awasekar</a:t>
            </a: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 </a:t>
            </a:r>
            <a:endParaRPr kumimoji="0" lang="cs-CZ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77724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15" y="3477315"/>
            <a:ext cx="190103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C00000"/>
                </a:solidFill>
                <a:latin typeface="Arial"/>
              </a:rPr>
              <a:t>"</a:t>
            </a:r>
            <a:r>
              <a:rPr lang="en-US" sz="2800" b="1" i="0" dirty="0">
                <a:solidFill>
                  <a:srgbClr val="C00000"/>
                </a:solidFill>
                <a:latin typeface="Arial"/>
              </a:rPr>
              <a:t>Design and Evaluation of an Educator-Led Experiential Pedagogical Model and Personalized Digital Platform for Holistic Student Growth</a:t>
            </a:r>
            <a:r>
              <a:rPr sz="2800" b="1" i="0" dirty="0">
                <a:solidFill>
                  <a:srgbClr val="C00000"/>
                </a:solidFill>
                <a:latin typeface="Arial"/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8756" y="5746652"/>
            <a:ext cx="18288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0196" y="58380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7556" y="5746652"/>
            <a:ext cx="6858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8996" y="583809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Name of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05556" y="5746652"/>
            <a:ext cx="2286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96996" y="58380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Roll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8756" y="638673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0196" y="64781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7556" y="638673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8996" y="64781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Kabir Shitalkumar Patil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5556" y="638673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96996" y="64781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18756" y="702681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0196" y="71182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7556" y="702681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8996" y="711825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Alok Shriniwas Perla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05556" y="702681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796996" y="71182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8756" y="766689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0196" y="77583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7556" y="766689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38996" y="775833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Vidhi Jatinbhai Patel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5556" y="766689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96996" y="77583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8756" y="830697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0196" y="83984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7556" y="830697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38996" y="83984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Rudraksh Rahul Vaidya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705556" y="830697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796996" y="83984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B-61</a:t>
            </a: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44BB49B-06F5-9E44-C5A0-384B434B6DC8}"/>
              </a:ext>
            </a:extLst>
          </p:cNvPr>
          <p:cNvSpPr txBox="1"/>
          <p:nvPr/>
        </p:nvSpPr>
        <p:spPr>
          <a:xfrm>
            <a:off x="996672" y="4454282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TEAM DETAILS  </a:t>
            </a:r>
            <a:endParaRPr lang="cs-CZ" sz="7200" dirty="0">
              <a:solidFill>
                <a:prstClr val="black"/>
              </a:solidFill>
              <a:cs typeface="Source Sans Pro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1F8E06C-4914-CAD6-5DD5-C3F3F25C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037" y="2024899"/>
            <a:ext cx="1224237" cy="11409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2D35B32-D20F-A3D2-4C89-29B5D7E341F8}"/>
              </a:ext>
            </a:extLst>
          </p:cNvPr>
          <p:cNvGrpSpPr/>
          <p:nvPr/>
        </p:nvGrpSpPr>
        <p:grpSpPr>
          <a:xfrm>
            <a:off x="27284" y="-16734"/>
            <a:ext cx="19010313" cy="1112119"/>
            <a:chOff x="-324644" y="2222500"/>
            <a:chExt cx="22261685" cy="1302327"/>
          </a:xfrm>
        </p:grpSpPr>
        <p:sp>
          <p:nvSpPr>
            <p:cNvPr id="42" name="object 2">
              <a:extLst>
                <a:ext uri="{FF2B5EF4-FFF2-40B4-BE49-F238E27FC236}">
                  <a16:creationId xmlns:a16="http://schemas.microsoft.com/office/drawing/2014/main" id="{10039C9E-15EA-B157-4DD1-A71E409B76D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3">
              <a:extLst>
                <a:ext uri="{FF2B5EF4-FFF2-40B4-BE49-F238E27FC236}">
                  <a16:creationId xmlns:a16="http://schemas.microsoft.com/office/drawing/2014/main" id="{0FD91687-0362-079D-8AAA-2E1DED702157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2">
              <a:extLst>
                <a:ext uri="{FF2B5EF4-FFF2-40B4-BE49-F238E27FC236}">
                  <a16:creationId xmlns:a16="http://schemas.microsoft.com/office/drawing/2014/main" id="{B0948CAE-EC45-0AB9-7632-B9CD915BCEE7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2">
              <a:extLst>
                <a:ext uri="{FF2B5EF4-FFF2-40B4-BE49-F238E27FC236}">
                  <a16:creationId xmlns:a16="http://schemas.microsoft.com/office/drawing/2014/main" id="{5B46E85D-6EF3-CF55-806C-95EE4E552DEB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003F26A4-DE92-ACF5-174B-694A85652DC2}"/>
              </a:ext>
            </a:extLst>
          </p:cNvPr>
          <p:cNvSpPr txBox="1"/>
          <p:nvPr/>
        </p:nvSpPr>
        <p:spPr>
          <a:xfrm>
            <a:off x="-185555" y="153182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CDC58D4F-E282-A39C-476A-25E54B3B315A}"/>
              </a:ext>
            </a:extLst>
          </p:cNvPr>
          <p:cNvSpPr txBox="1"/>
          <p:nvPr/>
        </p:nvSpPr>
        <p:spPr>
          <a:xfrm>
            <a:off x="6792313" y="274563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75" y="160338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1.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Introduction</a:t>
            </a:r>
            <a:endParaRPr sz="3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Arial"/>
              </a:rPr>
              <a:t>ELEVATE: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220373"/>
            <a:ext cx="10462846" cy="846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Evolution of Digital Learning:</a:t>
            </a:r>
            <a:br>
              <a:rPr lang="en-US" sz="2800" dirty="0"/>
            </a:br>
            <a:r>
              <a:rPr lang="en-US" sz="2800" dirty="0"/>
              <a:t>Digital learning platforms have made education more accessible by enabling learners to access courses anytime and anywhere. However, most platforms primarily focus on content delivery rather than competency development.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Limitation of Existing Platforms:</a:t>
            </a:r>
            <a:br>
              <a:rPr lang="en-US" sz="2800" dirty="0"/>
            </a:br>
            <a:r>
              <a:rPr lang="en-US" sz="2800" dirty="0"/>
              <a:t>Current Learning Management Systems (LMS) such as Moodle and online course platforms like Udemy emphasize videos, quizzes, and course completion but provide limited opportunities for experiential learning and continuous feedback.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Educator-Led Experiential Learning:</a:t>
            </a:r>
            <a:br>
              <a:rPr lang="en-US" sz="2800" dirty="0"/>
            </a:br>
            <a:r>
              <a:rPr lang="en-US" sz="2800" dirty="0"/>
              <a:t>ELEVATE introduces a structured learning approach where educators guide learners through practical activities, reflection, validation, and continuous improvement instead of passive content consumption.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Holistic Student Development:</a:t>
            </a:r>
            <a:br>
              <a:rPr lang="en-US" sz="2800" dirty="0"/>
            </a:br>
            <a:r>
              <a:rPr lang="en-US" sz="2800" dirty="0"/>
              <a:t>The platform integrates Growth Journeys and Growth Portfolios, with educator and peer feedback, to support technical, professional, and life-skill development through measurable learning outcomes.</a:t>
            </a:r>
          </a:p>
          <a:p>
            <a:pPr marL="457200" indent="-4572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sz="2800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242" name="AutoShape 2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215" y="1220373"/>
            <a:ext cx="7649307" cy="8545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2. Problems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Identified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928" y="3325196"/>
            <a:ext cx="9452660" cy="616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Passive Content-Centric Learning</a:t>
            </a:r>
          </a:p>
          <a:p>
            <a:r>
              <a:rPr lang="en-US" sz="2400" dirty="0"/>
              <a:t>Learning is often limited to videos and quizzes with minimal practical application or real-world experience.</a:t>
            </a:r>
          </a:p>
          <a:p>
            <a:r>
              <a:rPr lang="en-US" sz="2400" b="1" dirty="0"/>
              <a:t>2. Lack of Structured Experiential Learning</a:t>
            </a:r>
          </a:p>
          <a:p>
            <a:r>
              <a:rPr lang="en-US" sz="2400" dirty="0"/>
              <a:t>Students have limited opportunities to learn through guided activities, reflection, and hands-on experiences.</a:t>
            </a:r>
          </a:p>
          <a:p>
            <a:r>
              <a:rPr lang="en-US" sz="2400" b="1" dirty="0"/>
              <a:t>3. Limited Personalized Feedback</a:t>
            </a:r>
          </a:p>
          <a:p>
            <a:r>
              <a:rPr lang="en-US" sz="2400" dirty="0"/>
              <a:t>Most platforms provide generic assessments without continuous mentoring or individualized guidance.</a:t>
            </a:r>
          </a:p>
          <a:p>
            <a:r>
              <a:rPr lang="en-US" sz="2400" b="1" dirty="0"/>
              <a:t>4. Absence of Evidence-Based Skill Assessment</a:t>
            </a:r>
          </a:p>
          <a:p>
            <a:r>
              <a:rPr lang="en-US" sz="2400" dirty="0"/>
              <a:t>Course completion certificates do not adequately demonstrate practical competencies or learner growth.</a:t>
            </a:r>
          </a:p>
          <a:p>
            <a:r>
              <a:rPr lang="en-US" sz="2400" b="1" dirty="0"/>
              <a:t>5. Poor Support for Holistic Student Development</a:t>
            </a:r>
          </a:p>
          <a:p>
            <a:r>
              <a:rPr lang="en-US" sz="2400" dirty="0"/>
              <a:t>Technical knowledge is prioritized, while communication, leadership, teamwork, and life skills receive limited attention.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endParaRPr sz="2400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4909D-56E2-C4DC-5674-972FB5E8B923}"/>
              </a:ext>
            </a:extLst>
          </p:cNvPr>
          <p:cNvSpPr txBox="1"/>
          <p:nvPr/>
        </p:nvSpPr>
        <p:spPr>
          <a:xfrm>
            <a:off x="436928" y="1661134"/>
            <a:ext cx="18573385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To design and evaluate an educator-led experiential pedagogical model and personalized digital platform that supports life-skill development, professional readiness, and holistic student growth beyond conventional classroom learning.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A5CA3-B1A5-144B-EC55-2C9F437D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156" y="3325196"/>
            <a:ext cx="9068229" cy="616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4. Student Learning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Survey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4" y="1055076"/>
            <a:ext cx="18836639" cy="9049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726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39"/>
            <a:ext cx="6281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6.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E505B-8945-2BA5-9AD3-C714C48A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25" y="1072662"/>
            <a:ext cx="18217661" cy="892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902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4.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221AC-C7BA-5E9F-B6C5-EEAF92FB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1686"/>
            <a:ext cx="18699480" cy="8922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58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5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7</a:t>
            </a:r>
          </a:p>
        </p:txBody>
      </p:sp>
      <p:pic>
        <p:nvPicPr>
          <p:cNvPr id="10" name="Picture 9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8836640" cy="9098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9495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6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Hardware &amp;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Arial"/>
              </a:rPr>
              <a:t>7/28/2026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Frontend Framework</a:t>
            </a:r>
          </a:p>
        </p:txBody>
      </p:sp>
      <p:pic>
        <p:nvPicPr>
          <p:cNvPr id="43" name="Picture 4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49569"/>
            <a:ext cx="18041815" cy="9154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7.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E3146-C034-A2D5-22B0-67A8D055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6517"/>
            <a:ext cx="18277449" cy="91088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1518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 dirty="0">
                <a:solidFill>
                  <a:schemeClr val="tx2"/>
                </a:solidFill>
                <a:latin typeface="Arial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43230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chemeClr val="tx2"/>
                </a:solidFill>
                <a:latin typeface="Arial"/>
              </a:rPr>
              <a:t>THANK YOU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522</Words>
  <Application>Microsoft Office PowerPoint</Application>
  <PresentationFormat>Custom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Source Sans Pro</vt:lpstr>
      <vt:lpstr>Source Sans Pro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WITSP23-PC05</dc:creator>
  <dc:description>generated using python-pptx</dc:description>
  <cp:lastModifiedBy>Kabir Patil</cp:lastModifiedBy>
  <cp:revision>16</cp:revision>
  <dcterms:created xsi:type="dcterms:W3CDTF">2013-01-27T09:14:16Z</dcterms:created>
  <dcterms:modified xsi:type="dcterms:W3CDTF">2026-08-03T18:38:50Z</dcterms:modified>
</cp:coreProperties>
</file>