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85" r:id="rId3"/>
    <p:sldId id="257" r:id="rId4"/>
    <p:sldId id="287" r:id="rId5"/>
    <p:sldId id="258" r:id="rId6"/>
    <p:sldId id="259" r:id="rId7"/>
    <p:sldId id="264" r:id="rId8"/>
    <p:sldId id="260" r:id="rId9"/>
    <p:sldId id="288" r:id="rId10"/>
    <p:sldId id="261" r:id="rId11"/>
    <p:sldId id="266" r:id="rId12"/>
    <p:sldId id="267" r:id="rId13"/>
  </p:sldIdLst>
  <p:sldSz cx="19010313" cy="10693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4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5C5A7-E5D7-4F63-BB8D-9764EAAC251E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AF963-48FC-4C70-9D4C-B6C2B202CD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950A-3801-23B8-1CE0-2C2B2DF7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CCECE-247F-F8D4-8A0F-3859DB071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C874-6BF4-0A40-F31F-E13A1B2B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21B3-F878-2C63-7C66-F961DC6A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95B543-0236-4AEE-9F15-C7CF1150485F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13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125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9589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3101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0484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4435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092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707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4419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2595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8727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226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563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BAF1-C041-2EB4-3281-B903411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C7A9B4-7CEC-A17C-8FD8-B888C438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7"/>
          <a:stretch>
            <a:fillRect/>
          </a:stretch>
        </p:blipFill>
        <p:spPr>
          <a:xfrm>
            <a:off x="0" y="1082680"/>
            <a:ext cx="18999997" cy="426401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0E9B2-0A05-49CE-F896-07C94288C2F2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2E3824-A8BD-0246-524E-0F05B4E1484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BB3B7A-5F3D-4158-8B95-75CBCB9BB89A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94CD4D4-1E51-1878-6A89-47B9A558853B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E439E67-4596-092B-70B3-59250CB0068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A7A8640-F303-B061-AC9A-62D09966ACCF}"/>
              </a:ext>
            </a:extLst>
          </p:cNvPr>
          <p:cNvSpPr txBox="1"/>
          <p:nvPr/>
        </p:nvSpPr>
        <p:spPr>
          <a:xfrm>
            <a:off x="-185555" y="207491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 marR="0" lvl="0" indent="0" algn="l" defTabSz="4572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Department of Information Technology 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76575C-25D6-85EF-AC00-95B58D7006AB}"/>
              </a:ext>
            </a:extLst>
          </p:cNvPr>
          <p:cNvSpPr txBox="1"/>
          <p:nvPr/>
        </p:nvSpPr>
        <p:spPr>
          <a:xfrm>
            <a:off x="6833493" y="288707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WIT, Solapur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7D93BB-71BD-74F2-C5CE-CDC00483B481}"/>
              </a:ext>
            </a:extLst>
          </p:cNvPr>
          <p:cNvSpPr txBox="1"/>
          <p:nvPr/>
        </p:nvSpPr>
        <p:spPr>
          <a:xfrm>
            <a:off x="1697709" y="5507784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-5" normalizeH="0" baseline="0" noProof="0" dirty="0">
                <a:ln>
                  <a:noFill/>
                </a:ln>
                <a:solidFill>
                  <a:srgbClr val="00318B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PROJECT DESIGN PRESENTATION</a:t>
            </a:r>
            <a:endParaRPr kumimoji="0" lang="cs-CZ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A2324-B93F-5633-304B-2787AB89C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6076" y="-28800"/>
            <a:ext cx="1224237" cy="1140920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3549B7DF-0D2B-2377-7129-14E020EBF472}"/>
              </a:ext>
            </a:extLst>
          </p:cNvPr>
          <p:cNvSpPr txBox="1"/>
          <p:nvPr/>
        </p:nvSpPr>
        <p:spPr>
          <a:xfrm>
            <a:off x="1451186" y="6890951"/>
            <a:ext cx="16559808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US" sz="3200" b="1" dirty="0">
                <a:solidFill>
                  <a:srgbClr val="C00000"/>
                </a:solidFill>
                <a:latin typeface="Arial"/>
              </a:rPr>
              <a:t>"Design and Evaluation of an Educator-Led Experiential Pedagogical Model and Personalized Digital Platform for Holistic Student Growth"</a:t>
            </a:r>
          </a:p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3CA62C-0E64-278E-5BA7-7D48AB115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093449"/>
              </p:ext>
            </p:extLst>
          </p:nvPr>
        </p:nvGraphicFramePr>
        <p:xfrm>
          <a:off x="6552828" y="8405474"/>
          <a:ext cx="6616358" cy="51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3736038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GROUP NO: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B-07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</a:tbl>
          </a:graphicData>
        </a:graphic>
      </p:graphicFrame>
      <p:sp>
        <p:nvSpPr>
          <p:cNvPr id="25" name="object 18">
            <a:extLst>
              <a:ext uri="{FF2B5EF4-FFF2-40B4-BE49-F238E27FC236}">
                <a16:creationId xmlns:a16="http://schemas.microsoft.com/office/drawing/2014/main" id="{20B13B07-2F03-9B19-896C-E268821E4A94}"/>
              </a:ext>
            </a:extLst>
          </p:cNvPr>
          <p:cNvSpPr txBox="1"/>
          <p:nvPr/>
        </p:nvSpPr>
        <p:spPr>
          <a:xfrm>
            <a:off x="1226268" y="9567068"/>
            <a:ext cx="1655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>
              <a:spcBef>
                <a:spcPts val="100"/>
              </a:spcBef>
            </a:pP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GUIDE : </a:t>
            </a:r>
            <a:r>
              <a:rPr lang="en-US" sz="4000" dirty="0">
                <a:solidFill>
                  <a:srgbClr val="C00000"/>
                </a:solidFill>
                <a:latin typeface="Arial"/>
              </a:rPr>
              <a:t>Dr. Ms. D. D. </a:t>
            </a:r>
            <a:r>
              <a:rPr lang="en-US" sz="4000" dirty="0" err="1">
                <a:solidFill>
                  <a:srgbClr val="C00000"/>
                </a:solidFill>
                <a:latin typeface="Arial"/>
              </a:rPr>
              <a:t>Awasekar</a:t>
            </a: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 </a:t>
            </a:r>
            <a:endParaRPr kumimoji="0" lang="cs-CZ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5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77724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TEAM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15" y="3477315"/>
            <a:ext cx="190103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C00000"/>
                </a:solidFill>
                <a:latin typeface="Arial"/>
              </a:rPr>
              <a:t>"</a:t>
            </a:r>
            <a:r>
              <a:rPr lang="en-US" sz="2800" b="1" i="0" dirty="0">
                <a:solidFill>
                  <a:srgbClr val="C00000"/>
                </a:solidFill>
                <a:latin typeface="Arial"/>
              </a:rPr>
              <a:t>Design and Evaluation of an Educator-Led Experiential Pedagogical Model and Personalized Digital Platform for Holistic Student Growth</a:t>
            </a:r>
            <a:r>
              <a:rPr sz="2800" b="1" i="0" dirty="0">
                <a:solidFill>
                  <a:srgbClr val="C00000"/>
                </a:solidFill>
                <a:latin typeface="Arial"/>
              </a:rPr>
              <a:t>"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8756" y="5746652"/>
            <a:ext cx="18288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0196" y="58380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Sr.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7556" y="5746652"/>
            <a:ext cx="6858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38996" y="583809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Name of Student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05556" y="5746652"/>
            <a:ext cx="2286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96996" y="58380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Roll 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18756" y="638673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0196" y="64781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7556" y="638673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38996" y="64781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Kabir Shitalkumar Patil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05556" y="638673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796996" y="64781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18756" y="702681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0196" y="71182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7556" y="702681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38996" y="711825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Alok Shriniwas Perla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705556" y="702681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796996" y="71182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8756" y="766689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0196" y="77583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7556" y="766689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38996" y="775833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Vidhi Jatinbhai Patel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05556" y="766689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96996" y="77583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8756" y="830697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0196" y="83984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7556" y="830697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38996" y="839841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Rudraksh Rahul Vaidya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705556" y="830697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796996" y="83984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B-61</a:t>
            </a: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C44BB49B-06F5-9E44-C5A0-384B434B6DC8}"/>
              </a:ext>
            </a:extLst>
          </p:cNvPr>
          <p:cNvSpPr txBox="1"/>
          <p:nvPr/>
        </p:nvSpPr>
        <p:spPr>
          <a:xfrm>
            <a:off x="996672" y="4454282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GB" sz="7200" spc="-5" dirty="0">
                <a:solidFill>
                  <a:srgbClr val="00318B"/>
                </a:solidFill>
                <a:cs typeface="Source Sans Pro"/>
              </a:rPr>
              <a:t>TEAM DETAILS  </a:t>
            </a:r>
            <a:endParaRPr lang="cs-CZ" sz="7200" dirty="0">
              <a:solidFill>
                <a:prstClr val="black"/>
              </a:solidFill>
              <a:cs typeface="Source Sans Pro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1F8E06C-4914-CAD6-5DD5-C3F3F25C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037" y="2024899"/>
            <a:ext cx="1224237" cy="114092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2D35B32-D20F-A3D2-4C89-29B5D7E341F8}"/>
              </a:ext>
            </a:extLst>
          </p:cNvPr>
          <p:cNvGrpSpPr/>
          <p:nvPr/>
        </p:nvGrpSpPr>
        <p:grpSpPr>
          <a:xfrm>
            <a:off x="-1" y="-16734"/>
            <a:ext cx="19010313" cy="1112119"/>
            <a:chOff x="-324644" y="2222500"/>
            <a:chExt cx="22261685" cy="1302327"/>
          </a:xfrm>
        </p:grpSpPr>
        <p:sp>
          <p:nvSpPr>
            <p:cNvPr id="42" name="object 2">
              <a:extLst>
                <a:ext uri="{FF2B5EF4-FFF2-40B4-BE49-F238E27FC236}">
                  <a16:creationId xmlns:a16="http://schemas.microsoft.com/office/drawing/2014/main" id="{10039C9E-15EA-B157-4DD1-A71E409B76D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3">
              <a:extLst>
                <a:ext uri="{FF2B5EF4-FFF2-40B4-BE49-F238E27FC236}">
                  <a16:creationId xmlns:a16="http://schemas.microsoft.com/office/drawing/2014/main" id="{0FD91687-0362-079D-8AAA-2E1DED702157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2">
              <a:extLst>
                <a:ext uri="{FF2B5EF4-FFF2-40B4-BE49-F238E27FC236}">
                  <a16:creationId xmlns:a16="http://schemas.microsoft.com/office/drawing/2014/main" id="{B0948CAE-EC45-0AB9-7632-B9CD915BCEE7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object 2">
              <a:extLst>
                <a:ext uri="{FF2B5EF4-FFF2-40B4-BE49-F238E27FC236}">
                  <a16:creationId xmlns:a16="http://schemas.microsoft.com/office/drawing/2014/main" id="{5B46E85D-6EF3-CF55-806C-95EE4E552DEB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" name="object 6">
            <a:extLst>
              <a:ext uri="{FF2B5EF4-FFF2-40B4-BE49-F238E27FC236}">
                <a16:creationId xmlns:a16="http://schemas.microsoft.com/office/drawing/2014/main" id="{003F26A4-DE92-ACF5-174B-694A85652DC2}"/>
              </a:ext>
            </a:extLst>
          </p:cNvPr>
          <p:cNvSpPr txBox="1"/>
          <p:nvPr/>
        </p:nvSpPr>
        <p:spPr>
          <a:xfrm>
            <a:off x="-185555" y="153182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GB" sz="3200" spc="-5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  <p:sp>
        <p:nvSpPr>
          <p:cNvPr id="47" name="object 7">
            <a:extLst>
              <a:ext uri="{FF2B5EF4-FFF2-40B4-BE49-F238E27FC236}">
                <a16:creationId xmlns:a16="http://schemas.microsoft.com/office/drawing/2014/main" id="{CDC58D4F-E282-A39C-476A-25E54B3B315A}"/>
              </a:ext>
            </a:extLst>
          </p:cNvPr>
          <p:cNvSpPr txBox="1"/>
          <p:nvPr/>
        </p:nvSpPr>
        <p:spPr>
          <a:xfrm>
            <a:off x="6792313" y="274563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200" spc="-15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42EF8E-1AC3-7202-B46A-D18E714AAEC7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D31B-FD57-9444-0F31-7D651B77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9FA0E-AA5D-A8DB-A3B2-375D49CE93C2}"/>
              </a:ext>
            </a:extLst>
          </p:cNvPr>
          <p:cNvSpPr/>
          <p:nvPr/>
        </p:nvSpPr>
        <p:spPr>
          <a:xfrm>
            <a:off x="0" y="0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4CC80-ACEA-F9E6-F182-4A348DC79BA8}"/>
              </a:ext>
            </a:extLst>
          </p:cNvPr>
          <p:cNvSpPr txBox="1"/>
          <p:nvPr/>
        </p:nvSpPr>
        <p:spPr>
          <a:xfrm>
            <a:off x="155575" y="144389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Arial"/>
              </a:rPr>
              <a:t>1. 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Project Overview</a:t>
            </a:r>
            <a:endParaRPr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4477B-26DA-6555-34DC-5466E32CEE52}"/>
              </a:ext>
            </a:extLst>
          </p:cNvPr>
          <p:cNvSpPr txBox="1"/>
          <p:nvPr/>
        </p:nvSpPr>
        <p:spPr>
          <a:xfrm>
            <a:off x="5029200" y="10104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Arial"/>
              </a:rPr>
              <a:t>ELEVATE: EDUCATOR-LED EXPERIENTIAL LEARNING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97885-DFE5-068A-D9F1-3B76C2A58DA3}"/>
              </a:ext>
            </a:extLst>
          </p:cNvPr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262626"/>
                </a:solidFill>
                <a:latin typeface="Arial"/>
              </a:rPr>
              <a:t>3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242" name="AutoShape 2" descr="Title">
            <a:extLst>
              <a:ext uri="{FF2B5EF4-FFF2-40B4-BE49-F238E27FC236}">
                <a16:creationId xmlns:a16="http://schemas.microsoft.com/office/drawing/2014/main" id="{BC8E3AB7-1AED-5C9A-A9A7-1EE7FB7DF2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Title">
            <a:extLst>
              <a:ext uri="{FF2B5EF4-FFF2-40B4-BE49-F238E27FC236}">
                <a16:creationId xmlns:a16="http://schemas.microsoft.com/office/drawing/2014/main" id="{A9091DE6-3FC4-A058-3C79-4D6064A378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5E37C-0C7F-1D88-BE53-B92E7CABA95B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E2878-2452-D906-A489-A7AE8AAB2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3" t="23307" r="1476" b="14539"/>
          <a:stretch>
            <a:fillRect/>
          </a:stretch>
        </p:blipFill>
        <p:spPr>
          <a:xfrm>
            <a:off x="155574" y="1146712"/>
            <a:ext cx="18681065" cy="895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7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575" y="144389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3600" b="1" i="0" dirty="0">
                <a:solidFill>
                  <a:srgbClr val="FFFFFF"/>
                </a:solidFill>
                <a:latin typeface="Arial"/>
              </a:rPr>
              <a:t>.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Overall System Architecture</a:t>
            </a:r>
            <a:endParaRPr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Arial"/>
              </a:rPr>
              <a:t>ELEVATE: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262626"/>
                </a:solidFill>
                <a:latin typeface="Arial"/>
              </a:rPr>
              <a:t>4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242" name="AutoShape 2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256021-0E43-9564-3AEB-71D538148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54" b="6839"/>
          <a:stretch>
            <a:fillRect/>
          </a:stretch>
        </p:blipFill>
        <p:spPr>
          <a:xfrm>
            <a:off x="123922" y="1146712"/>
            <a:ext cx="18614243" cy="89574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E6FB83-7AAD-C863-4DC2-91A87178FE4C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3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Module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262626"/>
                </a:solidFill>
                <a:latin typeface="Arial"/>
              </a:rPr>
              <a:t>5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4E6384-DF11-2148-D451-FD1A5715C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7" y="1237957"/>
            <a:ext cx="18245797" cy="84124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BF41F8-209C-7478-09DF-3D993BDB328A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550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4.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Data / Database / Workflow Design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dirty="0">
                <a:solidFill>
                  <a:srgbClr val="262626"/>
                </a:solidFill>
                <a:latin typeface="Arial"/>
              </a:rPr>
              <a:t>6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402086-A70F-7256-F986-0A3CF0289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75" b="7296"/>
          <a:stretch>
            <a:fillRect/>
          </a:stretch>
        </p:blipFill>
        <p:spPr>
          <a:xfrm>
            <a:off x="137160" y="1055076"/>
            <a:ext cx="18699480" cy="9049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56FC07-8B7A-7E05-705B-BDEE8534D879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726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39"/>
            <a:ext cx="6281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5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Core Technical Design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dirty="0">
                <a:solidFill>
                  <a:srgbClr val="262626"/>
                </a:solidFill>
                <a:latin typeface="Arial"/>
              </a:rPr>
              <a:t>7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6BF4D-9D85-F043-E236-8535A625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61" b="14874"/>
          <a:stretch>
            <a:fillRect/>
          </a:stretch>
        </p:blipFill>
        <p:spPr>
          <a:xfrm>
            <a:off x="137160" y="1164101"/>
            <a:ext cx="18699480" cy="89400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8DC609-6E9C-E31E-DB54-D9DB303CB87D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77E57-D534-072B-363B-9CACD160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BE86C9-E166-9298-EE44-5781794E7BB6}"/>
              </a:ext>
            </a:extLst>
          </p:cNvPr>
          <p:cNvSpPr/>
          <p:nvPr/>
        </p:nvSpPr>
        <p:spPr>
          <a:xfrm>
            <a:off x="0" y="0"/>
            <a:ext cx="19010313" cy="10902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857D5-B40B-4F28-D471-58EA568C718C}"/>
              </a:ext>
            </a:extLst>
          </p:cNvPr>
          <p:cNvSpPr txBox="1"/>
          <p:nvPr/>
        </p:nvSpPr>
        <p:spPr>
          <a:xfrm>
            <a:off x="137160" y="101212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6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UI / Prototype / </a:t>
            </a:r>
            <a:r>
              <a:rPr lang="en-US" sz="3600" b="1" i="0" dirty="0" err="1">
                <a:solidFill>
                  <a:srgbClr val="FFFFFF"/>
                </a:solidFill>
                <a:latin typeface="Arial"/>
              </a:rPr>
              <a:t>Wideframe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9E181-002B-9B19-2800-58FC0158E382}"/>
              </a:ext>
            </a:extLst>
          </p:cNvPr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321A3-5330-56CC-BA3A-70EC09A21231}"/>
              </a:ext>
            </a:extLst>
          </p:cNvPr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dirty="0">
                <a:solidFill>
                  <a:srgbClr val="262626"/>
                </a:solidFill>
                <a:latin typeface="Arial"/>
              </a:rPr>
              <a:t>8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DCDAF-5CFF-4A8D-C104-9187FCB9D854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6589D0-5175-77BB-2941-7DCEECF0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2" y="1191458"/>
            <a:ext cx="6091311" cy="875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9C87BA-1069-340C-FB07-AF169C8E1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91459"/>
            <a:ext cx="5757202" cy="89126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753B06-B197-9C2F-E663-F355122EE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3463" y="1191459"/>
            <a:ext cx="5908431" cy="891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0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902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01212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7. Technology Stack &amp; Implement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34073A-8E39-F21F-D5D6-71501166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" t="14235" r="35979" b="7711"/>
          <a:stretch>
            <a:fillRect/>
          </a:stretch>
        </p:blipFill>
        <p:spPr>
          <a:xfrm>
            <a:off x="137160" y="1191458"/>
            <a:ext cx="11468686" cy="89126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A3F309-041F-F83F-DE95-15EAA7CA5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95" t="12736" r="1100" b="7192"/>
          <a:stretch>
            <a:fillRect/>
          </a:stretch>
        </p:blipFill>
        <p:spPr>
          <a:xfrm>
            <a:off x="11605845" y="1294228"/>
            <a:ext cx="7267307" cy="88098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43EC2B7-1CD9-F4F4-17D4-C9C71034E67E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61518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 dirty="0">
                <a:solidFill>
                  <a:schemeClr val="tx2"/>
                </a:solidFill>
                <a:latin typeface="Arial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262626"/>
                </a:solidFill>
                <a:latin typeface="Arial"/>
              </a:rPr>
              <a:t>10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1FAB9-F35D-318C-2C96-F26DFB3C406C}"/>
              </a:ext>
            </a:extLst>
          </p:cNvPr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43230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chemeClr val="tx2"/>
                </a:solidFill>
                <a:latin typeface="Arial"/>
              </a:rPr>
              <a:t>THANK YOU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  <a:latin typeface="Arial"/>
              </a:rPr>
              <a:t>9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12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0" y="10104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dirty="0">
                <a:solidFill>
                  <a:srgbClr val="262626"/>
                </a:solidFill>
                <a:latin typeface="Arial"/>
              </a:rPr>
              <a:t>11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247</Words>
  <Application>Microsoft Office PowerPoint</Application>
  <PresentationFormat>Custom</PresentationFormat>
  <Paragraphs>67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Source Sans Pro</vt:lpstr>
      <vt:lpstr>Source Sans Pro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WITSP23-PC05</dc:creator>
  <dc:description>generated using python-pptx</dc:description>
  <cp:lastModifiedBy>Kabir Patil</cp:lastModifiedBy>
  <cp:revision>19</cp:revision>
  <dcterms:created xsi:type="dcterms:W3CDTF">2013-01-27T09:14:16Z</dcterms:created>
  <dcterms:modified xsi:type="dcterms:W3CDTF">2026-09-11T16:54:59Z</dcterms:modified>
</cp:coreProperties>
</file>